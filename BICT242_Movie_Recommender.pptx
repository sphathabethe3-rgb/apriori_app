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2EEE3"/>
                </a:solidFill>
                <a:latin typeface="Arial"/>
              </a:defRPr>
            </a:pPr>
            <a:r>
              <a:rPr sz="1400" b="0" i="0" u="none" strike="noStrike">
                <a:solidFill>
                  <a:srgbClr val="F2EEE3"/>
                </a:solidFill>
                <a:latin typeface="Arial"/>
              </a:rPr>
              <a:t>RMSE / MAE by model (lower is better)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</c:v>
                </c:pt>
              </c:strCache>
            </c:strRef>
          </c:tx>
          <c:spPr>
            <a:solidFill>
              <a:srgbClr val="D9A84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2EEE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Baseline</c:v>
                  </c:pt>
                  <c:pt idx="1">
                    <c:v>Item-CF</c:v>
                  </c:pt>
                  <c:pt idx="2">
                    <c:v>SVD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0.9622</c:v>
                </c:pt>
                <c:pt idx="1">
                  <c:v>0.9325</c:v>
                </c:pt>
                <c:pt idx="2">
                  <c:v>0.9428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MAE</c:v>
                </c:pt>
              </c:strCache>
            </c:strRef>
          </c:tx>
          <c:spPr>
            <a:solidFill>
              <a:srgbClr val="7C769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2EEE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Baseline</c:v>
                  </c:pt>
                  <c:pt idx="1">
                    <c:v>Item-CF</c:v>
                  </c:pt>
                  <c:pt idx="2">
                    <c:v>SVD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0.7521</c:v>
                </c:pt>
                <c:pt idx="1">
                  <c:v>0.7227</c:v>
                </c:pt>
                <c:pt idx="2">
                  <c:v>0.7333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F2EEE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2EEE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"/>
          <c:min val="0"/>
        </c:scaling>
        <c:delete val="0"/>
        <c:axPos val="l"/>
        <c:majorGridlines>
          <c:spPr>
            <a:ln w="12700" cap="flat">
              <a:solidFill>
                <a:srgbClr val="3432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7B2C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B1A24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F2EEE3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B1A24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2EEE3"/>
                </a:solidFill>
                <a:latin typeface="Arial"/>
              </a:defRPr>
            </a:pPr>
            <a:r>
              <a:rPr sz="1400" b="0" i="0" u="none" strike="noStrike">
                <a:solidFill>
                  <a:srgbClr val="F2EEE3"/>
                </a:solidFill>
                <a:latin typeface="Arial"/>
              </a:rPr>
              <a:t>F1@K by model and K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K=5</c:v>
                </c:pt>
              </c:strCache>
            </c:strRef>
          </c:tx>
          <c:spPr>
            <a:solidFill>
              <a:srgbClr val="5C2A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Content</c:v>
                  </c:pt>
                  <c:pt idx="1">
                    <c:v>Item-CF</c:v>
                  </c:pt>
                  <c:pt idx="2">
                    <c:v>SVD</c:v>
                  </c:pt>
                  <c:pt idx="3">
                    <c:v>Hybrid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0.0031</c:v>
                </c:pt>
                <c:pt idx="1">
                  <c:v>0.1426</c:v>
                </c:pt>
                <c:pt idx="2">
                  <c:v>0.0928</c:v>
                </c:pt>
                <c:pt idx="3">
                  <c:v>0.0968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K=10</c:v>
                </c:pt>
              </c:strCache>
            </c:strRef>
          </c:tx>
          <c:spPr>
            <a:solidFill>
              <a:srgbClr val="D9A84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Content</c:v>
                  </c:pt>
                  <c:pt idx="1">
                    <c:v>Item-CF</c:v>
                  </c:pt>
                  <c:pt idx="2">
                    <c:v>SVD</c:v>
                  </c:pt>
                  <c:pt idx="3">
                    <c:v>Hybrid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0.0063</c:v>
                </c:pt>
                <c:pt idx="1">
                  <c:v>0.164</c:v>
                </c:pt>
                <c:pt idx="2">
                  <c:v>0.1044</c:v>
                </c:pt>
                <c:pt idx="3">
                  <c:v>0.1061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K=20</c:v>
                </c:pt>
              </c:strCache>
            </c:strRef>
          </c:tx>
          <c:spPr>
            <a:solidFill>
              <a:srgbClr val="7C76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Content</c:v>
                  </c:pt>
                  <c:pt idx="1">
                    <c:v>Item-CF</c:v>
                  </c:pt>
                  <c:pt idx="2">
                    <c:v>SVD</c:v>
                  </c:pt>
                  <c:pt idx="3">
                    <c:v>Hybrid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0.0091</c:v>
                </c:pt>
                <c:pt idx="1">
                  <c:v>0.1663</c:v>
                </c:pt>
                <c:pt idx="2">
                  <c:v>0.1033</c:v>
                </c:pt>
                <c:pt idx="3">
                  <c:v>0.1026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2EEE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432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7B2C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B1A24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F2EEE3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B1A2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96596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D9A8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REEL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2971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2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Movie Recommendation System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36118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BICT242 — Data Scalability and Analytics  |  Course Project  |  Dataset: MovieLens (ml-latest-small)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48463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D9A84E"/>
          </a:solidFill>
          <a:ln w="12700">
            <a:solidFill>
              <a:srgbClr val="3A38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07008" y="48463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32230"/>
          </a:solidFill>
          <a:ln w="12700">
            <a:solidFill>
              <a:srgbClr val="3A38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73936" y="48463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32230"/>
          </a:solidFill>
          <a:ln w="12700">
            <a:solidFill>
              <a:srgbClr val="3A38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40864" y="48463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D9A84E"/>
          </a:solidFill>
          <a:ln w="12700">
            <a:solidFill>
              <a:srgbClr val="3A38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07792" y="48463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32230"/>
          </a:solidFill>
          <a:ln w="12700">
            <a:solidFill>
              <a:srgbClr val="3A38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0" y="48463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32230"/>
          </a:solidFill>
          <a:ln w="12700">
            <a:solidFill>
              <a:srgbClr val="3A38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41648" y="48463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D9A84E"/>
          </a:solidFill>
          <a:ln w="12700">
            <a:solidFill>
              <a:srgbClr val="3A38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08576" y="48463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32230"/>
          </a:solidFill>
          <a:ln w="12700">
            <a:solidFill>
              <a:srgbClr val="3A38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75504" y="48463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32230"/>
          </a:solidFill>
          <a:ln w="12700">
            <a:solidFill>
              <a:srgbClr val="3A38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42432" y="48463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D9A84E"/>
          </a:solidFill>
          <a:ln w="12700">
            <a:solidFill>
              <a:srgbClr val="3A385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D9A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Recommending movies people will actually enjoy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6035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A3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build and evaluate a movie recommendation system using real rating data — comparing content-based, collaborative-filtering and matrix-factorization approaches, then shipping the best-performing model as a working system.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040880" y="15544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A8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635240" y="153619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&amp; clean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635240" y="184708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MovieLens ratings, movies and tags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040880" y="25146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A8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7635240" y="249631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features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635240" y="280720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genre/tag TF-IDF, user-item matrix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040880" y="34747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A8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635240" y="345643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&amp; compare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635240" y="37673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content, CF, SVD, hybrid models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040880" y="44348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A8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7635240" y="441655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&amp; ship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635240" y="472744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RMSE/MAE, Precision/Recall/F1, working app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D9A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EE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MovieLens ml-latest-small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232230"/>
          </a:solidFill>
          <a:ln w="12700">
            <a:solidFill>
              <a:srgbClr val="3432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9A8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671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060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2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164592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232230"/>
          </a:solidFill>
          <a:ln w="12700">
            <a:solidFill>
              <a:srgbClr val="3432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91840" y="18288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9A8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4,801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26060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2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 (after filtering)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35040" y="164592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232230"/>
          </a:solidFill>
          <a:ln w="12700">
            <a:solidFill>
              <a:srgbClr val="3432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35040" y="18288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9A8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94,537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26060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2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778240" y="164592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232230"/>
          </a:solidFill>
          <a:ln w="12700">
            <a:solidFill>
              <a:srgbClr val="3432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778240" y="18288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9A8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97.1%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8778240" y="26060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2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sparsity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61188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7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raw files — movies.csv, ratings.csv, tags.csv, links.csv — from GroupLens Research. Users were pre-filtered to ≥5 ratings and movies to ≥3 ratings to stabilise similarity computation.</a:t>
            </a:r>
            <a:endParaRPr lang="en-US" sz="1400" dirty="0"/>
          </a:p>
        </p:txBody>
      </p:sp>
      <p:pic>
        <p:nvPicPr>
          <p:cNvPr id="17" name="Image 0" descr="/home/claude/project/figures/02_ratings_per_us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434840"/>
            <a:ext cx="4846320" cy="1965960"/>
          </a:xfrm>
          <a:prstGeom prst="rect">
            <a:avLst/>
          </a:prstGeom>
        </p:spPr>
      </p:pic>
      <p:pic>
        <p:nvPicPr>
          <p:cNvPr id="18" name="Image 1" descr="/home/claude/project/figures/04_genre_populari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4434840"/>
            <a:ext cx="4937760" cy="196596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548640" y="4224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7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Long-tail ratings per user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5760720" y="4224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7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 per genre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D9A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raw ratings into model inputs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206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DB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5623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9A84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56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80136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“soup”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167128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5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Genres (×3 weight) + free-text tags, vectorised with TF-IDF for content-based similarity.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35040" y="1600200"/>
            <a:ext cx="51206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DBC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185623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9A84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09360" y="1856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949440" y="180136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User-item matrix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949440" y="2167128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5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671 × 4,801 sparse matrix of ratings, shared by collaborative filtering and SVD.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429000"/>
            <a:ext cx="51206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DBC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68503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9A84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36850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363016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popularity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3995928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5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count × mean, shrunk toward the global mean so 1-rating movies can't top the charts.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035040" y="3429000"/>
            <a:ext cx="51206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DBC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9360" y="368503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9A84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09360" y="36850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363016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year &amp; clean title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949440" y="3995928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5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from the raw title string for filtering and display.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D9A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EE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approaches, evaluated head-to-head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60320" cy="2926080"/>
          </a:xfrm>
          <a:prstGeom prst="roundRect">
            <a:avLst>
              <a:gd name="adj" fmla="val 2857"/>
            </a:avLst>
          </a:prstGeom>
          <a:solidFill>
            <a:srgbClr val="232230"/>
          </a:solidFill>
          <a:ln w="12700">
            <a:solidFill>
              <a:srgbClr val="3432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659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5C2A2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EE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0604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Content-Based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20040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7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cosine similarity over genres &amp; tags. No cold-start problem; coarse signal.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37560" y="1691640"/>
            <a:ext cx="2560320" cy="2926080"/>
          </a:xfrm>
          <a:prstGeom prst="roundRect">
            <a:avLst>
              <a:gd name="adj" fmla="val 2857"/>
            </a:avLst>
          </a:prstGeom>
          <a:solidFill>
            <a:srgbClr val="232230"/>
          </a:solidFill>
          <a:ln w="12700">
            <a:solidFill>
              <a:srgbClr val="3432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66160" y="19659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9A84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6616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EE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260604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Item-Based CF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320040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7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between item rating vectors; weighted-average prediction.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26480" y="1691640"/>
            <a:ext cx="2560320" cy="2926080"/>
          </a:xfrm>
          <a:prstGeom prst="roundRect">
            <a:avLst>
              <a:gd name="adj" fmla="val 2857"/>
            </a:avLst>
          </a:prstGeom>
          <a:solidFill>
            <a:srgbClr val="232230"/>
          </a:solidFill>
          <a:ln w="12700">
            <a:solidFill>
              <a:srgbClr val="3432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55080" y="19659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5C2A2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5508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EE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260604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Factorization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355080" y="320040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7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Truncated SVD, 50 latent factors, mean-centred ratings.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915400" y="1691640"/>
            <a:ext cx="2560320" cy="2926080"/>
          </a:xfrm>
          <a:prstGeom prst="roundRect">
            <a:avLst>
              <a:gd name="adj" fmla="val 2857"/>
            </a:avLst>
          </a:prstGeom>
          <a:solidFill>
            <a:srgbClr val="232230"/>
          </a:solidFill>
          <a:ln w="12700">
            <a:solidFill>
              <a:srgbClr val="3432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0" y="19659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5C2A2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4400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EE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144000" y="260604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144000" y="320040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7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α·SVD + (1−α)·Content, α tuned to 0.9 on validation data.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D9A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METHODOLOGY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models were judged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81912"/>
            <a:ext cx="10424160" cy="0"/>
          </a:xfrm>
          <a:prstGeom prst="line">
            <a:avLst/>
          </a:prstGeom>
          <a:noFill/>
          <a:ln w="12700">
            <a:solidFill>
              <a:srgbClr val="E2DBC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017520" y="1691640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A4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80/20 train/test (min. 10 ratings to be eligible) — 75,875 train / 18,662 test ratings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542032"/>
            <a:ext cx="10424160" cy="0"/>
          </a:xfrm>
          <a:prstGeom prst="line">
            <a:avLst/>
          </a:prstGeom>
          <a:noFill/>
          <a:ln w="12700">
            <a:solidFill>
              <a:srgbClr val="E2DBC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6517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accuracy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017520" y="2651760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A4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&amp; MAE on held-out ratings, vs. a “user-mean” baseline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502152"/>
            <a:ext cx="10424160" cy="0"/>
          </a:xfrm>
          <a:prstGeom prst="line">
            <a:avLst/>
          </a:prstGeom>
          <a:noFill/>
          <a:ln w="12700">
            <a:solidFill>
              <a:srgbClr val="E2DBC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6118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quality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017520" y="3611880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A4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Precision@K, Recall@K, F1@K for K = 5, 10, 20; relevant = rating ≥ 4.0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462272"/>
            <a:ext cx="10424160" cy="0"/>
          </a:xfrm>
          <a:prstGeom prst="line">
            <a:avLst/>
          </a:prstGeom>
          <a:noFill/>
          <a:ln w="12700">
            <a:solidFill>
              <a:srgbClr val="E2DBC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5720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control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017520" y="4572000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A4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&amp; factor models retrained on train-only data; seen items excluded from candidates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D9A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RATING PREDICTION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EE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 learned models beat the naive baseline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69494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772400" y="210312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2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Item-based CF achieves the lowest error — with 671 users, its item-item structure outperforms a 50-factor SVD.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D9A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TOP-N RANKING QUALITY (F1@K)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EE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Item-based CF ranks best at every K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110642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D9A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Item-based CF in production, content-based as fallback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0424160" cy="1188720"/>
          </a:xfrm>
          <a:prstGeom prst="roundRect">
            <a:avLst>
              <a:gd name="adj" fmla="val 6154"/>
            </a:avLst>
          </a:prstGeom>
          <a:solidFill>
            <a:srgbClr val="2E5395"/>
          </a:solidFill>
          <a:ln w="12700">
            <a:solidFill>
              <a:srgbClr val="E2DBC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1051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A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DEFAULT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084832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Item-Based Collaborative Filtering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4389120" y="1938528"/>
            <a:ext cx="6309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5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F1@K at every K; lowest RMSE/MAE among learned models.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104241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DBC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322783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8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COLD-START FALLBACK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502152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Content-Based Similarity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389120" y="3355848"/>
            <a:ext cx="6309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5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when a movie/user has too little history for CF to work.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480560"/>
            <a:ext cx="104241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DBC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464515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8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OPTION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919472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(α = 0.9)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389120" y="4773168"/>
            <a:ext cx="6309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5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matches CF while staying more robust to sparse items.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D9A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EE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notebook to a usable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D9A84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691640"/>
            <a:ext cx="6126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2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recommender.py — reusable MovieRecommender class + CLI (--user, --movie, --method)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D9A84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468880"/>
            <a:ext cx="6126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2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Selectable method per call: hybrid (default), item_cf, or svd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D9A84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246120"/>
            <a:ext cx="6126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2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artifacts (similarity matrices, SVD factors) persisted for fast reuse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4069080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D9A84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4023360"/>
            <a:ext cx="6126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2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interactive web demo: “movies like X” and “recommend for user”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223760" y="1691640"/>
            <a:ext cx="4389120" cy="3246120"/>
          </a:xfrm>
          <a:prstGeom prst="roundRect">
            <a:avLst>
              <a:gd name="adj" fmla="val 2817"/>
            </a:avLst>
          </a:prstGeom>
          <a:solidFill>
            <a:srgbClr val="232230"/>
          </a:solidFill>
          <a:ln w="12700">
            <a:solidFill>
              <a:srgbClr val="3432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98080" y="192024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A8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python3 recommender.py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9A8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--user 15 --method hybrid --n 5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498080" y="2606040"/>
            <a:ext cx="39319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2EE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0.533  Lethal Weapon 2 (1989)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2EE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0.531  Full Monty, The (1997)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2EE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0.530  Money Train (1995)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2EE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0.530  Another 48 Hrs. (1990)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2EE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0.530  17 Again (2009)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D9A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could go next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Richer content signal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77440"/>
            <a:ext cx="2514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5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plot synopsis, cast &amp; director from TMDb via the existing links.csv IDs.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173736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Better factorization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2377440"/>
            <a:ext cx="2514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5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Grid-search latent factors k; move to ALS/SGD with explicit regularization.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173736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Temporal awareness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2377440"/>
            <a:ext cx="2514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5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recent ratings more heavily — tastes and catalogues shift over time.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778240" y="173736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 evaluation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778240" y="2377440"/>
            <a:ext cx="2514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5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 against click-through or watch-through, not just held-out rating accuracy.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28600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D9A8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324612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 — a MovieLens recommendation system built and evaluated for BICT242: Data Scalability and Analytics.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48463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D9A84E"/>
          </a:solidFill>
          <a:ln w="12700">
            <a:solidFill>
              <a:srgbClr val="3A38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07008" y="48463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32230"/>
          </a:solidFill>
          <a:ln w="12700">
            <a:solidFill>
              <a:srgbClr val="3A38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73936" y="48463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32230"/>
          </a:solidFill>
          <a:ln w="12700">
            <a:solidFill>
              <a:srgbClr val="3A38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40864" y="48463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D9A84E"/>
          </a:solidFill>
          <a:ln w="12700">
            <a:solidFill>
              <a:srgbClr val="3A38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07792" y="48463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32230"/>
          </a:solidFill>
          <a:ln w="12700">
            <a:solidFill>
              <a:srgbClr val="3A38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0" y="48463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32230"/>
          </a:solidFill>
          <a:ln w="12700">
            <a:solidFill>
              <a:srgbClr val="3A38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41648" y="48463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D9A84E"/>
          </a:solidFill>
          <a:ln w="12700">
            <a:solidFill>
              <a:srgbClr val="3A38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08576" y="48463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32230"/>
          </a:solidFill>
          <a:ln w="12700">
            <a:solidFill>
              <a:srgbClr val="3A38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75504" y="48463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32230"/>
          </a:solidFill>
          <a:ln w="12700">
            <a:solidFill>
              <a:srgbClr val="3A38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42432" y="48463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D9A84E"/>
          </a:solidFill>
          <a:ln w="12700">
            <a:solidFill>
              <a:srgbClr val="3A385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2026-09-24T07:03:42Z</dcterms:created>
  <dcterms:modified xsi:type="dcterms:W3CDTF">2026-09-24T07:03:42Z</dcterms:modified>
</cp:coreProperties>
</file>